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Traveling Salesman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743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89B4FA"/>
                </a:solidFill>
              </a:rPr>
              <a:t>Ant Colony Optimization  |  CPU vs CUDA Parallelization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6ADC8"/>
                </a:solidFill>
              </a:rPr>
              <a:t>Performance benchmark on two machines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The Problem: Traveling Salesman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1115568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DD6F4"/>
                </a:solidFill>
              </a:rPr>
              <a:t>Given a set of cities, find the shortest possible route that visits each city exactly once and returns to the starting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</a:rPr>
              <a:t>  NP-hard — no known polynomial-time exact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43784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</a:rPr>
              <a:t>  50 cities  -&gt;  49! / 2  ~  3 x 10^62 possible 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6440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</a:rPr>
              <a:t>  Exact methods are impractical for large instances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85032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</a:rPr>
              <a:t>  Heuristics and metaheuristics are used in practice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03520" cy="5120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89B4FA"/>
                </a:solidFill>
              </a:rPr>
              <a:t>Our Instance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Cities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920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DD6F4"/>
                </a:solidFill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95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Coordinate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3957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DD6F4"/>
                </a:solidFill>
              </a:rPr>
              <a:t>5 – 1,605  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712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287121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DD6F4"/>
                </a:solidFill>
              </a:rPr>
              <a:t>5 – 1,175  (y)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4670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Distance 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3467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DD6F4"/>
                </a:solidFill>
              </a:rPr>
              <a:t>Euclidean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221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8221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DD6F4"/>
                </a:solidFill>
              </a:rPr>
              <a:t>cities.txt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The Method: Ant Colony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1115568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DD6F4"/>
                </a:solidFill>
              </a:rPr>
              <a:t>A bio-inspired metaheuristic introduced by Marco Dorigo (1992), based on the foraging behavior of real ant colonies.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3657600" cy="21945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3657600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Stigmergy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Ants communicate indirectly by depositing pheromone on the paths they traverse.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103120"/>
            <a:ext cx="3657600" cy="21945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2103120"/>
            <a:ext cx="3657600" cy="7315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E3A1"/>
                </a:solidFill>
              </a:rPr>
              <a:t>Positive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Shorter paths accumulate pheromone faster, attracting more ants and reinforcing the best routes.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2103120"/>
            <a:ext cx="3657600" cy="21945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66760" y="2103120"/>
            <a:ext cx="3657600" cy="73152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8BA8"/>
                </a:solidFill>
              </a:rPr>
              <a:t>Evaporation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97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Pheromone evaporates over time, preventing premature convergence to suboptimal solutions.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63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6ADC8"/>
                </a:solidFill>
              </a:rPr>
              <a:t>The algorithm converges toward near-optimal solutions without exhaustive enumeration.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Algorithm: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1115568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3703320" cy="22402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45720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Initialize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CDD6F4"/>
                </a:solidFill>
              </a:rPr>
              <a:t>Set pheromone level t0 on every edge. Place ants at random starting cities.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703320" cy="22402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45720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2344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Build Tours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9164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Each ant builds a complete tour. At each step, the next city is chosen probabilistically:   P(i-&gt;j)  proportional to  t(i,j)^alpha  *  (1/d(i,j))^beta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188720"/>
            <a:ext cx="3703320" cy="22402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1188720"/>
            <a:ext cx="45720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2344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9164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Compute the tour length for each ant. Track the global best solution found so far.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57600"/>
            <a:ext cx="3703320" cy="22402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033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Evaporate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Reduce all pheromone levels:  t(i,j)  &lt;-  t(i,j) * (1 - rho)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657600"/>
            <a:ext cx="3703320" cy="22402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0" y="3657600"/>
            <a:ext cx="45720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1E2E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7033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Deposit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16052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Each ant adds pheromone to its tour edges:  delta(t)  =  Q / tour_length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657600"/>
            <a:ext cx="3703320" cy="22402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80" y="3657600"/>
            <a:ext cx="45720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1E2E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7033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Repeat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16052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Go back to step 2 until the maximum number of iterations is reached.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CUDA Parallelization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1115568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5212080" cy="5120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5212080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8BA8"/>
                </a:solidFill>
              </a:rPr>
              <a:t>CPU Mode  (sequential)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Ants construct tours one at a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85416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Each iteration: loop over all 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Full CPU power used for one ant at a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9008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Performance limited by clock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92424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50 ants processed serially per iteration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88720"/>
            <a:ext cx="5669280" cy="5120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188720"/>
            <a:ext cx="5669280" cy="5486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E3A1"/>
                </a:solidFill>
              </a:rPr>
              <a:t>CUDA Mode  (parallel)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One GPU thread per 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8541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All ants build tours simultaneously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587752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GTX 1660 Super: 1,280 CUDA 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99008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Tour construction kernel runs in parallel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392424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Pheromone update on CPU after each iteration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79476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Memory transfers: pheromone matrix each iteration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9260" y="3474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A6ADC8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Experiment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1115568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Cities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Number of cities in the problem instance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Ants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Number of ants constructing tours each iteration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Iterations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Number of optimization cycles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Alpha  (alpha)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Pheromone exponent — weight given to existing trails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Beta  (beta)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Heuristic exponent — preference for shorter edges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Rho  (rho)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Evaporation rate — fraction of pheromone lost per iteration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Q  (deposit)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100.0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Pheromone deposit constant (proportional to tour quality)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Init. pheromone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Starting pheromone level on all edges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Results: Machine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1115568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77724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DD6F4"/>
                </a:solidFill>
              </a:rPr>
              <a:t>AMD Ryzen 7 5700G  |  3801 MHz  |  8 cores / 16 threads     +     NVIDIA GeForce GTX 1660 Super  |  1,280 CUDA cores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48840"/>
          <a:ext cx="1115567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1E2E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Run 1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Run 2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Run 3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Run 4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Run 5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CPU  (Ryzen 7 5700G)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10.61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10.92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11.27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10.21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10.40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DD6F4"/>
                          </a:solidFill>
                        </a:rPr>
                        <a:t>10.68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CUDA (GTX 1660 Super)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1.32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1.31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1.33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1.34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1.32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DD6F4"/>
                          </a:solidFill>
                        </a:rPr>
                        <a:t>1.32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0" y="4069080"/>
            <a:ext cx="5760720" cy="12344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416052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E1E2E"/>
                </a:solidFill>
              </a:rPr>
              <a:t>Speedup:  ~8.1x  faster with CUDA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7548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E2E"/>
                </a:solidFill>
              </a:rPr>
              <a:t>10.68 s  (CPU)   -&gt;   1.32 s  (CUDA)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Results: Machine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1115568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77724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DD6F4"/>
                </a:solidFill>
              </a:rPr>
              <a:t>Intel Core i7-13700KF  |  3400 MHz  |  16 cores / 24 threads     +     NVIDIA GeForce GTX 1660 Super  |  1,280 CUDA cores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48840"/>
          <a:ext cx="1115567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1E2E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Run 1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Run 2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Run 3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Run 4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Run 5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1E2E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CPU  (i7-13700KF)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5.20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5.18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5.17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5.22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5.23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DD6F4"/>
                          </a:solidFill>
                        </a:rPr>
                        <a:t>5.20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DD6F4"/>
                          </a:solidFill>
                        </a:rPr>
                        <a:t>CUDA (GTX 1660 Super)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0.86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0.84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0.86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0.85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DD6F4"/>
                          </a:solidFill>
                        </a:rPr>
                        <a:t>0.85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DD6F4"/>
                          </a:solidFill>
                        </a:rPr>
                        <a:t>0.85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0" y="4069080"/>
            <a:ext cx="5760720" cy="12344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416052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E1E2E"/>
                </a:solidFill>
              </a:rPr>
              <a:t>Speedup:  ~6.1x  faster with CUDA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7548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E2E"/>
                </a:solidFill>
              </a:rPr>
              <a:t>5.20 s  (CPU)   -&gt;   0.85 s  (CUDA)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Side-by-Side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1115568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1E2E"/>
                          </a:solidFill>
                        </a:rPr>
                        <a:t>CPU Average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1E2E"/>
                          </a:solidFill>
                        </a:rPr>
                        <a:t>CUDA Average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1E2E"/>
                          </a:solidFill>
                        </a:rPr>
                        <a:t>Speedup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CDD6F4"/>
                          </a:solidFill>
                        </a:rPr>
                        <a:t>Machine 1  (Ryzen 7 5700G)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CDD6F4"/>
                          </a:solidFill>
                        </a:rPr>
                        <a:t>10.68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CDD6F4"/>
                          </a:solidFill>
                        </a:rPr>
                        <a:t>1.32 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DD6F4"/>
                          </a:solidFill>
                        </a:rPr>
                        <a:t>~8.1x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CDD6F4"/>
                          </a:solidFill>
                        </a:rPr>
                        <a:t>Machine 2  (i7-13700KF)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CDD6F4"/>
                          </a:solidFill>
                        </a:rPr>
                        <a:t>5.20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CDD6F4"/>
                          </a:solidFill>
                        </a:rPr>
                        <a:t>0.85 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DD6F4"/>
                          </a:solidFill>
                        </a:rPr>
                        <a:t>~6.1x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CDD6F4"/>
                          </a:solidFill>
                        </a:rPr>
                        <a:t>GPU used (both machines)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CDD6F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CDD6F4"/>
                          </a:solidFill>
                        </a:rPr>
                        <a:t>GTX 1660 Super  |  1,280 cores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CDD6F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CDD6F4"/>
                          </a:solidFill>
                        </a:rPr>
                        <a:t>CUDA cores vs CPU cores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CDD6F4"/>
                          </a:solidFill>
                        </a:rPr>
                        <a:t>8 / 16 cores  |  16 / 24 cores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CDD6F4"/>
                          </a:solidFill>
                        </a:rPr>
                        <a:t>1,280 CUDA cores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CDD6F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977639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Key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434840"/>
            <a:ext cx="11155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The same GPU (GTX 1660 Super) outperforms both CPUs by 6-8x — hardware generation matters less than parallelism.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28032"/>
            <a:ext cx="11155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Machine 2's faster CPU closes the absolute gap (0.85 s vs 1.32 s) but the relative speedup is similar.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221224"/>
            <a:ext cx="11155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CUDA time is nearly constant across runs — GPU execution is highly deterministic.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14416"/>
            <a:ext cx="11155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6F4"/>
                </a:solidFill>
              </a:rPr>
              <a:t>  CPU time varies slightly (~1 s range on M1) due to OS scheduling and cache effects.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1115568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440680" cy="2148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91440" cy="21488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CUDA delivers 6-8x speedup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DD6F4"/>
                </a:solidFill>
              </a:rPr>
              <a:t>Even a mid-range GPU (GTX 1660 Super, released 2019) substantially outperforms modern multi-core CPUs for this workload.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5440680" cy="2148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280160"/>
            <a:ext cx="91440" cy="21488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389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Parallelism is the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01952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DD6F4"/>
                </a:solidFill>
              </a:rPr>
              <a:t>ACO is naturally parallel: ants are independent. Mapping each ant to a GPU thread eliminates the main bottleneck.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57600"/>
            <a:ext cx="5440680" cy="2148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3657600"/>
            <a:ext cx="91440" cy="21488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67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ACO finds good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79392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DD6F4"/>
                </a:solidFill>
              </a:rPr>
              <a:t>The algorithm consistently improves the tour over 200 iterations, with ~20-30% improvement from initial to final solution.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657600"/>
            <a:ext cx="5440680" cy="2148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3657600"/>
            <a:ext cx="91440" cy="21488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767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Scalability advantage grows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79392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DD6F4"/>
                </a:solidFill>
              </a:rPr>
              <a:t>With more ants or cities, the GPU advantage increases — the CPU must do proportionally more sequential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179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6ADC8"/>
                </a:solidFill>
              </a:rPr>
              <a:t>CUDA parallelization makes ACO practical for large-scale TSP instances where CPU-based solutions would be prohibitively slow.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970</Words>
  <Application>Microsoft Office PowerPoint</Application>
  <PresentationFormat>Custom</PresentationFormat>
  <Paragraphs>175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LEONARDO MERINO GARFIAS</cp:lastModifiedBy>
  <cp:revision>2</cp:revision>
  <dcterms:created xsi:type="dcterms:W3CDTF">2013-01-27T09:14:16Z</dcterms:created>
  <dcterms:modified xsi:type="dcterms:W3CDTF">2026-06-01T03:32:34Z</dcterms:modified>
  <cp:category/>
</cp:coreProperties>
</file>